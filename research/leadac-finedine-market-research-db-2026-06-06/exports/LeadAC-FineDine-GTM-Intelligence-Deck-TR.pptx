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e2dd6e1a384425" /><Relationship Type="http://schemas.openxmlformats.org/officeDocument/2006/relationships/extended-properties" Target="/docProps/app.xml" Id="R3a1e298fa34043a3" /><Relationship Type="http://schemas.openxmlformats.org/officeDocument/2006/relationships/officeDocument" Target="/ppt/presentation.xml" Id="Rf4f9deed77b1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2c45ca26fb48e9"/>
  </p:sldMasterIdLst>
  <p:notesMasterIdLst>
    <p:notesMasterId xmlns:r="http://schemas.openxmlformats.org/officeDocument/2006/relationships" r:id="R9c927a2e038c4e13"/>
  </p:notesMasterIdLst>
  <p:sldIdLst>
    <p:sldId xmlns:r="http://schemas.openxmlformats.org/officeDocument/2006/relationships" id="256" r:id="Rb16d4520859943f4"/>
    <p:sldId xmlns:r="http://schemas.openxmlformats.org/officeDocument/2006/relationships" id="257" r:id="R1a988346896744f2"/>
    <p:sldId xmlns:r="http://schemas.openxmlformats.org/officeDocument/2006/relationships" id="258" r:id="R49f95eb50dac4289"/>
    <p:sldId xmlns:r="http://schemas.openxmlformats.org/officeDocument/2006/relationships" id="259" r:id="R314440df5bbe42d1"/>
    <p:sldId xmlns:r="http://schemas.openxmlformats.org/officeDocument/2006/relationships" id="260" r:id="R449c65ead14d4c42"/>
    <p:sldId xmlns:r="http://schemas.openxmlformats.org/officeDocument/2006/relationships" id="261" r:id="Rb93d393c04ed400c"/>
    <p:sldId xmlns:r="http://schemas.openxmlformats.org/officeDocument/2006/relationships" id="262" r:id="R35f09218bec44ef5"/>
    <p:sldId xmlns:r="http://schemas.openxmlformats.org/officeDocument/2006/relationships" id="263" r:id="R228c869598344821"/>
    <p:sldId xmlns:r="http://schemas.openxmlformats.org/officeDocument/2006/relationships" id="264" r:id="R3281e9ae3c8744fe"/>
    <p:sldId xmlns:r="http://schemas.openxmlformats.org/officeDocument/2006/relationships" id="265" r:id="R670df46b4b694cbd"/>
    <p:sldId xmlns:r="http://schemas.openxmlformats.org/officeDocument/2006/relationships" id="266" r:id="Rcc93b1b6572b4236"/>
    <p:sldId xmlns:r="http://schemas.openxmlformats.org/officeDocument/2006/relationships" id="267" r:id="R92956804b6a84969"/>
    <p:sldId xmlns:r="http://schemas.openxmlformats.org/officeDocument/2006/relationships" id="268" r:id="R629aa0a166e040d1"/>
    <p:sldId xmlns:r="http://schemas.openxmlformats.org/officeDocument/2006/relationships" id="269" r:id="R11d12a81246f4c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1799bead16418e" /><Relationship Type="http://schemas.openxmlformats.org/officeDocument/2006/relationships/slideMaster" Target="/ppt/slideMasters/slideMaster1.xml" Id="Ra22c45ca26fb48e9" /><Relationship Type="http://schemas.openxmlformats.org/officeDocument/2006/relationships/notesMaster" Target="/ppt/notesMasters/notesMaster1.xml" Id="R9c927a2e038c4e13" /><Relationship Type="http://schemas.openxmlformats.org/officeDocument/2006/relationships/presProps" Target="/ppt/presProps.xml" Id="Rd3f90959849149e7" /><Relationship Type="http://schemas.openxmlformats.org/officeDocument/2006/relationships/viewProps" Target="/ppt/viewProps.xml" Id="R44cf073841cb4839" /><Relationship Type="http://schemas.openxmlformats.org/officeDocument/2006/relationships/tableStyles" Target="/ppt/tableStyles.xml" Id="Re05a2e4528bb4255" /><Relationship Type="http://schemas.openxmlformats.org/officeDocument/2006/relationships/slide" Target="/ppt/slides/slide1.xml" Id="Rb16d4520859943f4" /><Relationship Type="http://schemas.openxmlformats.org/officeDocument/2006/relationships/slide" Target="/ppt/slides/slide2.xml" Id="R1a988346896744f2" /><Relationship Type="http://schemas.openxmlformats.org/officeDocument/2006/relationships/slide" Target="/ppt/slides/slide3.xml" Id="R49f95eb50dac4289" /><Relationship Type="http://schemas.openxmlformats.org/officeDocument/2006/relationships/slide" Target="/ppt/slides/slide4.xml" Id="R314440df5bbe42d1" /><Relationship Type="http://schemas.openxmlformats.org/officeDocument/2006/relationships/slide" Target="/ppt/slides/slide5.xml" Id="R449c65ead14d4c42" /><Relationship Type="http://schemas.openxmlformats.org/officeDocument/2006/relationships/slide" Target="/ppt/slides/slide6.xml" Id="Rb93d393c04ed400c" /><Relationship Type="http://schemas.openxmlformats.org/officeDocument/2006/relationships/slide" Target="/ppt/slides/slide7.xml" Id="R35f09218bec44ef5" /><Relationship Type="http://schemas.openxmlformats.org/officeDocument/2006/relationships/slide" Target="/ppt/slides/slide8.xml" Id="R228c869598344821" /><Relationship Type="http://schemas.openxmlformats.org/officeDocument/2006/relationships/slide" Target="/ppt/slides/slide9.xml" Id="R3281e9ae3c8744fe" /><Relationship Type="http://schemas.openxmlformats.org/officeDocument/2006/relationships/slide" Target="/ppt/slides/slide10.xml" Id="R670df46b4b694cbd" /><Relationship Type="http://schemas.openxmlformats.org/officeDocument/2006/relationships/slide" Target="/ppt/slides/slide11.xml" Id="Rcc93b1b6572b4236" /><Relationship Type="http://schemas.openxmlformats.org/officeDocument/2006/relationships/slide" Target="/ppt/slides/slide12.xml" Id="R92956804b6a84969" /><Relationship Type="http://schemas.openxmlformats.org/officeDocument/2006/relationships/slide" Target="/ppt/slides/slide13.xml" Id="R629aa0a166e040d1" /><Relationship Type="http://schemas.openxmlformats.org/officeDocument/2006/relationships/slide" Target="/ppt/slides/slide14.xml" Id="R11d12a81246f4c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765f3c74a04a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99477a3cd34c63" /><Relationship Type="http://schemas.openxmlformats.org/officeDocument/2006/relationships/notesMaster" Target="/ppt/notesMasters/notesMaster1.xml" Id="R5bfffcd3c009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3464eb2ed14180" /><Relationship Type="http://schemas.openxmlformats.org/officeDocument/2006/relationships/notesMaster" Target="/ppt/notesMasters/notesMaster1.xml" Id="Racf73a7ef62841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48756af0a4e3e" /><Relationship Type="http://schemas.openxmlformats.org/officeDocument/2006/relationships/notesMaster" Target="/ppt/notesMasters/notesMaster1.xml" Id="Rfe7d978a5024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bb3f4c99274f13" /><Relationship Type="http://schemas.openxmlformats.org/officeDocument/2006/relationships/notesMaster" Target="/ppt/notesMasters/notesMaster1.xml" Id="R39a8f68d44b147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24cd37ee44e5e" /><Relationship Type="http://schemas.openxmlformats.org/officeDocument/2006/relationships/notesMaster" Target="/ppt/notesMasters/notesMaster1.xml" Id="Rc825caa73cb3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ffad95a174e13" /><Relationship Type="http://schemas.openxmlformats.org/officeDocument/2006/relationships/notesMaster" Target="/ppt/notesMasters/notesMaster1.xml" Id="Rc13396e387c348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68cef2c8a34920" /><Relationship Type="http://schemas.openxmlformats.org/officeDocument/2006/relationships/notesMaster" Target="/ppt/notesMasters/notesMaster1.xml" Id="R090651199bfe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d7903a3fb04862" /><Relationship Type="http://schemas.openxmlformats.org/officeDocument/2006/relationships/notesMaster" Target="/ppt/notesMasters/notesMaster1.xml" Id="R9187961d72e041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085bb1e3334725" /><Relationship Type="http://schemas.openxmlformats.org/officeDocument/2006/relationships/notesMaster" Target="/ppt/notesMasters/notesMaster1.xml" Id="Rb5e771083d5243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96ecf5623f4b7f" /><Relationship Type="http://schemas.openxmlformats.org/officeDocument/2006/relationships/notesMaster" Target="/ppt/notesMasters/notesMaster1.xml" Id="Redee5ba5fc9742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c05a270e2a474e" /><Relationship Type="http://schemas.openxmlformats.org/officeDocument/2006/relationships/notesMaster" Target="/ppt/notesMasters/notesMaster1.xml" Id="R93a36d3f3a0c4b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f2dd3b94754c02" /><Relationship Type="http://schemas.openxmlformats.org/officeDocument/2006/relationships/notesMaster" Target="/ppt/notesMasters/notesMaster1.xml" Id="Rf4d23bf7dc304f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75835280e24f14" /><Relationship Type="http://schemas.openxmlformats.org/officeDocument/2006/relationships/notesMaster" Target="/ppt/notesMasters/notesMaster1.xml" Id="R873caf5d78204c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bd9ac962624956" /><Relationship Type="http://schemas.openxmlformats.org/officeDocument/2006/relationships/notesMaster" Target="/ppt/notesMasters/notesMaster1.xml" Id="R2f7f03bc5b7e4d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974b507c7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39563c45734e1c" /><Relationship Type="http://schemas.openxmlformats.org/officeDocument/2006/relationships/slideLayout" Target="/ppt/slideLayouts/slideLayout1.xml" Id="R735b97800b3144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b97800b3144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e3b1a42e24cb8" /><Relationship Type="http://schemas.openxmlformats.org/officeDocument/2006/relationships/notesSlide" Target="/ppt/notesSlides/notesSlide1.xml" Id="R9e1c0d958668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05c25ebea4144" /><Relationship Type="http://schemas.openxmlformats.org/officeDocument/2006/relationships/notesSlide" Target="/ppt/notesSlides/notesSlide2.xml" Id="R8fc41466779042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6369aa29f4ae5" /><Relationship Type="http://schemas.openxmlformats.org/officeDocument/2006/relationships/notesSlide" Target="/ppt/notesSlides/notesSlide3.xml" Id="Rec39c24a706b48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66a0b8c084ced" /><Relationship Type="http://schemas.openxmlformats.org/officeDocument/2006/relationships/notesSlide" Target="/ppt/notesSlides/notesSlide4.xml" Id="Rb1607a08dfb940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41ffe85f74213" /><Relationship Type="http://schemas.openxmlformats.org/officeDocument/2006/relationships/notesSlide" Target="/ppt/notesSlides/notesSlide5.xml" Id="R063a8c34664e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f40b96abe4836" /><Relationship Type="http://schemas.openxmlformats.org/officeDocument/2006/relationships/notesSlide" Target="/ppt/notesSlides/notesSlide6.xml" Id="Re5aeb9bef4a74a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3548366d44fe2" /><Relationship Type="http://schemas.openxmlformats.org/officeDocument/2006/relationships/notesSlide" Target="/ppt/notesSlides/notesSlide7.xml" Id="R400264362df94e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f0d6b321d4249" /><Relationship Type="http://schemas.openxmlformats.org/officeDocument/2006/relationships/notesSlide" Target="/ppt/notesSlides/notesSlide8.xml" Id="R67760291a6f3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1dab43ed4792" /><Relationship Type="http://schemas.openxmlformats.org/officeDocument/2006/relationships/notesSlide" Target="/ppt/notesSlides/notesSlide9.xml" Id="Rf4858a6815ed4d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c3846e84044ad" /><Relationship Type="http://schemas.openxmlformats.org/officeDocument/2006/relationships/notesSlide" Target="/ppt/notesSlides/notesSlide10.xml" Id="R0c049254c1ac47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00ba49ec841f5" /><Relationship Type="http://schemas.openxmlformats.org/officeDocument/2006/relationships/notesSlide" Target="/ppt/notesSlides/notesSlide11.xml" Id="R5a7c5cfb5b0a4e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33607e8d424a" /><Relationship Type="http://schemas.openxmlformats.org/officeDocument/2006/relationships/notesSlide" Target="/ppt/notesSlides/notesSlide12.xml" Id="R0f76b253ddec49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f819411ec4163" /><Relationship Type="http://schemas.openxmlformats.org/officeDocument/2006/relationships/notesSlide" Target="/ppt/notesSlides/notesSlide13.xml" Id="R3635be82857247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d7cd8930745c1" /><Relationship Type="http://schemas.openxmlformats.org/officeDocument/2006/relationships/notesSlide" Target="/ppt/notesSlides/notesSlide14.xml" Id="Rc035ba9910bd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2806A-4D34-4ED3-9E8F-6E4249F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LEADAC x FINEDINE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71527-C23F-4E02-A3EE-2E124CC0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676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Restaurant-tech GTM intelligence katmanı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29EC2-0554-41B1-9C82-68A2F0F7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FineDine için doğru restaurant account'a, neden şimdi, hangi mesaj ve hangi motion ile gidileceğini öğrenen karar katmanı.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B8BAC-C3B1-4ECB-83E0-F6F2F63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F4203-EC49-4FE9-9F61-13C5303A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CRM değil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5A10D-A515-48CE-83C5-6846C70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8D3BD-987C-444D-8B9F-4281A52F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195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Lead list tool değil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C0E2-7E98-4857-B4DA-2C870ACF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DCE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10EC2-146A-4113-91DD-B3EE422E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AI SDR değil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E54F4-8044-4F00-9237-132020D0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3"/>
          </a:solidFill>
          <a:ln xmlns:a="http://schemas.openxmlformats.org/drawingml/2006/main" w="0">
            <a:solidFill>
              <a:srgbClr val="DDF2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3AB14-A7AF-4B1C-AA42-B30BD8E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Outcome-learning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E8222-9BCB-436A-8C2E-D2529FD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42950"/>
            <a:ext cx="37623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080ED-B173-4FA0-875A-F66ECDE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Görüşmenin ana sorusu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6F4DA-B255-46A8-BA5D-44A338C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Daha fazla lead mi?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7141D-B641-4A16-A002-7D3E80E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D4F1A-BA63-4A54-81A0-46B416BA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Hayır.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A6B86-6A55-4A5C-82FE-D6B2D94D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Hangi restoran bugün gerçekten çalışılmaya değer, hangi sinyal bunu gösteriyor ve sonuç ne öğretiyor?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F0133-95B8-4F98-BF4F-9932153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508AA-90C4-4455-BC20-817DFDD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719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22DE2-5D1A-4A23-AD3C-328F518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0CDD1-0FE2-4198-A913-8B0997EB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7195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02BBB-DC0E-468B-B562-C5012128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719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070C9-1C60-4B15-A899-96D6AD48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9C1E9-F609-4BEA-8611-F86A52ED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35892-3C40-4158-A351-88F7D81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D4154-8E7A-4931-A981-15F44A1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767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BA87C-F8C4-422C-BFD2-4ED470D7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84B0C-C6C7-488D-9312-BF01252B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64971-8587-4602-9C33-2B098106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Kaynak omurgası: LeadAC x FineDine master whitepaper, 6 Haziran 2026</a:t>
            </a:r>
          </a:p>
        </p:txBody>
      </p:sp>
    </p:spTree>
    <p:extLst>
      <p:ext uri="{BB962C8B-B14F-4D97-AF65-F5344CB8AC3E}">
        <p14:creationId xmlns:p14="http://schemas.microsoft.com/office/powerpoint/2010/main" val="322551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6D61A-A076-47FF-BFCF-15E7724A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POSITIONING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D6F6D-66E1-40D6-8AAA-5E56FBA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LeadAC stack'te karar ve öğrenme katmanıdır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F7A32-886B-4226-864A-6030D5D5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CRM, data provider, sender ve AI SDR'ların yerine geçmez; onların ürettiği aktiviteyi karar mantığına ve şirket hafızasına bağlar.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81EB9-92AC-4375-8F92-E1ECC44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239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A3E3A-6FB0-4D63-BA34-7B83CF5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95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BBFD7-E2A5-42DD-BE2F-EF8EED48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6210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Neden şimdi? Hangi motion? Sonuçtan ne öğrenildi?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D2989-99A3-4C9E-AC36-6FEFD7FC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145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8D0A4-360C-4CED-9D18-B393A36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Sender / sequencer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74CDE-9A89-4E8E-AE1A-11F7EA13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5270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Email, LinkedIn, görev ve follow-up yürütme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050BC-28BD-4E42-8E3C-22C16921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291BA-F395-4CD9-82F2-2849CEAD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76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Enrichment /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3FA9F-DE41-4DD4-926D-8BC65FE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4330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Restoran datası, web sinyali, lokasyon, teknoloji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BB4F1-645A-4ED6-B291-DAF662E5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957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8593E-0E8A-47D3-80AC-9024DB8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67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B8593-1CDC-41C9-B4F2-B156312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3390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Account, contact, activity, pipeline kaydı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B6B34-AA81-4CAC-80E6-CCB8526A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143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D15CD-E8A4-4C79-82D9-2189ED8A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Problem daha temel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14A0C-992F-426A-8F1F-4C178EE8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30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Outbound ekiplerinde çok değerli bir öğrenme oluşuyor: hangi restoran çalışmaya değer, hangi sinyal hazır oluşu gösterir, hangi mesaj daha iyi çalışır. Fakat bu bilgi çoğu zaman kişinin kafasında kalıyor.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B0B54-2BE5-4505-A48C-5D9568DD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13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B1E03-8A24-4118-807E-738A9E44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15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LeadAC'in işi: aktiviteyi değil, kararın nedenini ve outcome'u sistemleştirmek.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53304-B49D-45D2-9CF9-86575930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606B8-BD3D-47C3-A5E9-8DE3AC49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2FAA8-D7CB-4579-B082-25878352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Whitepaper bölümleri: 1, 4, 5, 6</a:t>
            </a:r>
          </a:p>
        </p:txBody>
      </p:sp>
    </p:spTree>
    <p:extLst>
      <p:ext uri="{BB962C8B-B14F-4D97-AF65-F5344CB8AC3E}">
        <p14:creationId xmlns:p14="http://schemas.microsoft.com/office/powerpoint/2010/main" val="506726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2D4129-C14D-4B48-B41C-3902435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MARKET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82E80-CCAB-40A8-A94B-B5840C5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Restaurant-tech beachhead gerçek bir baskı alanına oturuyor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C463A-694C-4675-B72E-7CCA5110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Araştırma restoran operatörlerinin sadece menü gösterimi değil; maliyet, iş gücü, operasyon, ödeme, data ve entegrasyon baskısı altında olduğunu gösteriyor.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65C3E-4196-4273-9080-BA517372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572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D3BB8-8426-4B67-865C-7E0339FE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906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$1.55T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DF17B-11E0-4BC8-A42A-9267A83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335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2026 ABD restoran satış projeksiyonu; talep güçlü ama maliyet baskısı kalıcı.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69E1A-B479-452F-A333-06CFF11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1D30D-2FCD-4BD4-BCBD-D73B51C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A0724-0BCE-4A1D-9F02-67013D9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Satış ekiplerinde müşteriyle geçirilen zaman için Salesforce baz çizgisi.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B0318-0359-4236-8F04-AF56C68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E1C34-C995-4A20-94E5-EA65F72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5-40%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CAF67-604F-4785-AEB1-71A1943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AI-driven enablement için stage velocity iyileşme aralığı; LeadAC pilot hipotezi olarak ölçülmeli.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85241-E3E2-46F5-BA93-ED341658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9AB42-8B36-48C0-A703-984C5D59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C8"/>
          </a:solidFill>
          <a:ln xmlns:a="http://schemas.openxmlformats.org/drawingml/2006/main" w="0">
            <a:solidFill>
              <a:srgbClr val="F5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5F0D6-CCF6-4338-B6C7-3B6DCEF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Maliyet baskısı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E5DA2-AF82-4C0D-8CC8-9158B0DE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Food/labor/input cost artışı restoran teknolojisini verimlilik problemi haline getiriyor.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B1FF4-1204-4685-88CF-0354C66F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86050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BDE2E-B773-42CB-BBF6-73488A9D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860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12FE9-4772-4308-B77E-95A9A657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57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İşgücü ve servis akışı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7A442-B894-4891-ADF3-C2DBE47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62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Yavaş servis, sipariş hatası ve masa dönüşü gibi problemler doğrudan revenue etkisine bağlanıyor.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2AC03-702D-4688-A7A8-572FEE39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5809F-593C-45EB-B88C-23AA1B9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32882-BBFA-4AB3-A390-61F36E84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Digital ordering/payment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41F41-5620-488F-9F08-32EBE7D3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QR menu tek başına değil; sipariş, ödeme ve operasyon entegrasyonu değer yaratıyor.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9E01B-E54B-40A0-9871-8A24CF2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38600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FEF1E-F381-427A-93FC-62DBD34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3860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DCE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68D78-CB2E-4A77-A807-CFE5FC1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210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Guest data ownership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A787FA-6F54-4D03-8A5F-AEF1BFC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514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Marketplace/third-party ordering kullanan işletmelerde müşteri bilgisini sahiplenme pain'i büyüyor.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7E934-2AC4-42F6-8956-64095D8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4C744-3407-4F59-A231-2492BBAF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9EBE68-B95E-440A-985E-E186464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NRA State of the Restaurant Industry 2026; NRA Technology Landscape 2024; Salesforce State of Sales 2026; Gartner 2026</a:t>
            </a:r>
          </a:p>
        </p:txBody>
      </p:sp>
    </p:spTree>
    <p:extLst>
      <p:ext uri="{BB962C8B-B14F-4D97-AF65-F5344CB8AC3E}">
        <p14:creationId xmlns:p14="http://schemas.microsoft.com/office/powerpoint/2010/main" val="1666466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07789-58E6-4402-B09B-9DFC94CB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FINEDINE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47BB-9149-4590-A3C8-6F575686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QR menu anlatımı FineDine'ın gerçek değerini küçültür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3A4C0-84A0-4B02-9932-40F0EA93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Daha güçlü anlatı: restoranın gelirini, servis akışını ve guest data sahipliğini iyileştiren dijital operasyon katmanı.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80899-0AAC-4561-9916-61D8FBEF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Operator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4D26C-30FB-4A59-9CC5-990BD686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FineDine 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A954E-A8FD-4365-A58D-FB7E1E4B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Business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A07C8-C68F-401A-9981-8B50A694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5CB96-B386-45B1-8550-E857B9B2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193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DB467-3E7C-493E-B9A7-DFAB9304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19375"/>
            <a:ext cx="3276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0C05A-1F2E-4EC4-999A-E3F7124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8D42-7A2E-4222-8DBE-6502072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289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C8A73-1735-4286-BAE4-EB883D65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A8D6C-29DA-45E2-8C96-CB95941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Sık değişen menü ve fiyat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1A978-57C8-48B0-8C90-90C61F39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336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Digital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2E106-5CDC-4E93-AAFC-DDF960CA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33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Daha hızlı update, daha az baskı/maliyet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C6042-3F1D-4292-B97D-E5D5AD9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D5516-D580-4721-8B66-5C1B23DB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289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C9264-D7DC-4873-A687-EF229192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28975"/>
            <a:ext cx="3276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ECED1-0299-4906-B403-642D458C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D7D5E-6A48-482D-A292-462CD4A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85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D1084-98BB-4DC0-8859-ADC5665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14F71-0602-4D65-888C-1BCA0BC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Sipariş/ödeme sürtünmesi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B6459-41FC-4002-BDDB-4AD6279B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32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Ordering + 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8AA7B-5DE2-4230-B738-78F49A62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432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Masa dönüşü, servis hızı, operasyon kontrolü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09D32-383A-4CD2-968F-E4D66D1E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70047-8B17-4868-81E2-406386A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385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E195F-CD4A-4712-8AD5-F00C841A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38575"/>
            <a:ext cx="3276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B49AA-7B6D-4E42-A6F8-737336BE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9E437-6ADD-4C9D-9D57-CE354D06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CA681-FA1E-42FF-A9FC-ECC31E6E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81A97-3644-43E5-BD42-9BD12C8D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Sepet büyütme ihtiyacı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E98B1-7B88-412D-95A0-26CC8901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AI upsell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8838E-967A-4841-AE7E-B4E3B92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8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Daha yüksek average check / attach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F25F42-8470-4A27-917F-77B608C6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E28485-DEBF-4AC9-983D-FFECFC6D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481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C3ADE8-6DC4-4EDF-9264-B868B921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48175"/>
            <a:ext cx="3276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F503BE-6C38-4CA4-8459-32E25F60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577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164A8C-3A31-4EC3-B0C4-5A4530D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577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96923D-149E-4BB7-A040-D41F24D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AE8D3-85D3-4A35-A0C0-043A0C3B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Neyin çalıştığı belirsiz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B81A70-F177-44F1-964A-C83D0536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Menu analytics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1561AD-5E66-4C92-91BF-9ECCC78C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624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Kategori, ürün ve fiyat kararlarında veri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159C73-DBC2-4E88-BAB3-C1BEBA62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76BD1F-7581-4EBE-8C30-A418B83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577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C67EF-7F0F-4D23-B526-CCDC233E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57775"/>
            <a:ext cx="3276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F283CB-8726-4259-AED1-F09AD25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673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EBCD0C-8EC4-4DEA-8203-C5F34C2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5D8FB0-F5AB-4443-8B82-912EC2D3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D940A5-6753-4E93-8DEB-EF7151D8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Guest data kaybı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6E4A91-4850-4B6C-9996-36464603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720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CRM / loyalty / campaign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528EE9-7D72-44BD-935F-EBD13615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720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Tekrar ziyaret ve owned customer relationship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97ED3B-5A81-4237-98EC-05150F8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47950"/>
            <a:ext cx="400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DBFE78-88D8-4AA7-96F2-DE7B4A7A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0"/>
            <a:ext cx="209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QR-only değil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87EE82-1808-4855-9B47-EAC8A142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209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Revenue + ops +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817AC9-BD40-47BB-8935-ED577AD0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D84CDE-B237-441A-A24D-9BB4541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33A977-ACFA-4A2A-9552-A78B220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FineDine official site and AI/product pages; NRA Technology Landscape 2024</a:t>
            </a:r>
          </a:p>
        </p:txBody>
      </p:sp>
    </p:spTree>
    <p:extLst>
      <p:ext uri="{BB962C8B-B14F-4D97-AF65-F5344CB8AC3E}">
        <p14:creationId xmlns:p14="http://schemas.microsoft.com/office/powerpoint/2010/main" val="901139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0D662-8688-43BA-AE8B-72EDF98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GTM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525D8-F64A-46AA-91B0-DCCC578A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Restaurant-tech satış lokal, sinyal bazlı ve çok kanallıdır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286D1-6E0C-4F62-9767-9D027B82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 pazarda account listesi yetmez; lokasyon, segment, yakın dönem sinyal, kanal seçimi ve social proof birlikte karar üretir.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982BD-0531-4DBA-A764-5128A62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FD267-501F-48C1-8A62-9A4FAEEA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D9391-D136-4299-B00A-DDD30F0E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Territory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BB9A4-D134-4F88-9818-0458593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Bölge, cluster, social proof potansiyeli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5D6FF-852D-4DA7-8A25-8A3CF5DF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12FCB-2437-467D-8C73-B3CAA29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4717D-5099-4988-A6A6-5493D8E5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075C7-5011-42C1-A94E-1C57F96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2B851-F507-4A25-9B50-74A970DD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Yeni açılış, menü değişimi, yorum pain'i, teknoloji izi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75D3B-1A6B-4270-A08B-957745FC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E900A-B432-4B3F-B764-2C3760B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9D319-090F-44B4-B331-A98B37F3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CD718-9D3F-490A-8F41-DCEF75E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29E25-7440-43BC-ABD6-D6340F7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Phone, field visit, email, referral, LinkedIn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82A0C-21B5-438C-953B-5BC0E286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2DB75-1FF7-4EB8-A093-7C6B333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31E77-A9FF-42B6-A4BA-E9032C09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AD3F8-BA57-4F5E-B92B-CFEC8EBE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B14FB-C512-49B4-BB70-643EB973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Reply, meeting, demo, objection, lost/won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ACDC9-A4B5-42E5-B5C5-5406EC7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95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70F37-6DA7-4146-8F3E-806A4C4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862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Learning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33BF8-03EE-494D-9220-5D4715A9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1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Outcome bir sonraki account kararı için hafızaya döner.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893E8-062B-436F-B424-748E5FBA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339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7D3E6-D85A-4100-9F79-7C6B02F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1C703-2FD9-47A8-AA6B-8F18D703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054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Casual dining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18B075-ED4C-4F98-934F-7F30FD95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2925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8C0CA-7135-4245-B4BA-2FE85161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054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QSR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30B7D-B6F0-42E9-A29B-6F86277A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292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DCE8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70EE5C-312C-4140-8D13-1EC48EB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054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Bar / nightlife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11B79D-D9C1-446D-9C34-6E804F53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292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3"/>
          </a:solidFill>
          <a:ln xmlns:a="http://schemas.openxmlformats.org/drawingml/2006/main" w="0">
            <a:solidFill>
              <a:srgbClr val="DDF2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B1AEA8-6F91-47AE-A7F7-F5A672C0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05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Hotel F&amp;B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76CF62-BE21-4828-952E-02834F49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292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FA"/>
          </a:solidFill>
          <a:ln xmlns:a="http://schemas.openxmlformats.org/drawingml/2006/main" w="0">
            <a:solidFill>
              <a:srgbClr val="E8E4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01EBD-0218-4179-9B71-5460EF92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Multi-location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6FA9F-3439-4DC4-8127-73069EB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C8"/>
          </a:solidFill>
          <a:ln xmlns:a="http://schemas.openxmlformats.org/drawingml/2006/main" w="0">
            <a:solidFill>
              <a:srgbClr val="F5D8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6D9D6C-4744-491A-B089-B729AB03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054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New opening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698C3B-5B82-433C-A5EC-34E2AB5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19D159-D24A-48B5-B9DB-9D3BF1A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8D5447-B7CF-483F-BA11-E87D366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Toast 2025 Form 10-K; Openmart/Orbital/Resquared category scans; LeadAC research docs</a:t>
            </a:r>
          </a:p>
        </p:txBody>
      </p:sp>
    </p:spTree>
    <p:extLst>
      <p:ext uri="{BB962C8B-B14F-4D97-AF65-F5344CB8AC3E}">
        <p14:creationId xmlns:p14="http://schemas.microsoft.com/office/powerpoint/2010/main" val="263834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4EB8C-851A-474B-8665-06005EB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SALES-TEAM PAIN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8DF72-6A2E-45E5-8C74-C0CE754C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İyi SDR'ların öğrendiği pattern'ler sistemde yaşamıyor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D99CC-8969-4052-AFA3-7DDDC696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CRM aktiviteyi tutar; ama kararın nedeni, sinyalin etkisi, hangi mesajın neden çalıştığı ve outcome'dan çıkan ders çoğu zaman dağılır.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21360-F2E6-415E-AC39-176EB7F9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8101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0EC0D-217F-4469-AE3B-E4CE4AF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 time allocation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AF0FB-6EEC-4CB1-BED5-AFB262DE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Salesforce 2026 baz çizgisi: satış ekipleri zamanın yaklaşık %40'ını customer-facing aktivitelere ayırıyor.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7D794-415A-4CB2-9CF0-9261046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46785-9C26-4676-8605-C666A49F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1552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9664A-AD79-4F1C-ABD6-128D9E9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67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A4CD-6DD5-466E-AD72-9F7C224D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14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40% selling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AC5D4-D2CE-4B85-8F67-F6C1C9C2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147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60% research / admin / prep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3D1A0-D055-464A-AEFF-FD069794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3762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LeadAC hedefi: araştırma ve drafting yükünü azaltıp motion kalitesini yükseltmek.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A102D-CC2A-4DA7-B1A1-0E3813F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095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499C7-61B9-4810-9A7C-96C3511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Kaybolan öğrenme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629D7-039E-44BA-87AF-2E7BC78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BD8F5-A394-46F9-B792-0787976C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1947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F3177-85BD-49B1-A1BA-AB5D016C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3F484-DDD6-40F7-B6B7-4FD004C7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1947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42AC5-568A-4B8F-9FAE-4E5AE46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80292-B0E4-4681-9BDF-25C1F80C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1947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158B9-A871-4F6D-8788-D6243BEC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95137-D69B-4ED2-B4DF-0E904AD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1482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5BBB2-B5AD-41C1-8CDE-F8B999F0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AE86C-FBBD-4A2C-9E65-CC11AFA3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1482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184C0B-4BD3-4D3A-A93B-C8CBA58B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766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0CD4C-754F-4009-AA89-0AA0DD2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67DA7-82E4-4423-86D7-8FBC9BB3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7FAA4-BE01-43D2-AFAE-12578FE2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1344D-0914-4BC9-9357-795158DF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Bugün bu zincirin çoğu rep hafızasında veya dağınık notlarda kalıyor.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A31E5B-CC5E-4F25-A763-1B03261A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A533A-2FC8-47D1-AFA2-B053E556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EDB00-2189-4537-A8C6-C91E7E0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Salesforce State of Sales 2026; LeadAC value model</a:t>
            </a:r>
          </a:p>
        </p:txBody>
      </p:sp>
    </p:spTree>
    <p:extLst>
      <p:ext uri="{BB962C8B-B14F-4D97-AF65-F5344CB8AC3E}">
        <p14:creationId xmlns:p14="http://schemas.microsoft.com/office/powerpoint/2010/main" val="284114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1946B-1ABB-4669-ABE6-E30077A0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EC4AD-38A4-40F9-9B5F-5CE1566D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LeadAC'in ilk somut objesi: Account Intelligence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7D607-2A6E-4797-BF22-68BAAE3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Brief, SDR'a sadece veri vermez; hesabın neden önceliklendirildiğini, hangi motion ile gidileceğini ve outcome'un ne öğrettiğini gösterir.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ABCFF-255D-43CD-A11B-94CB97A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181FF-450D-49D7-BF50-A62C5E00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4762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055BE-FFDD-4E95-83C2-8C116DAF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FineDine Account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2E830-D2F9-4265-88E2-598A1682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Restaurant: coastal casual dining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A88DE-2CEB-41CF-8793-8CF8FEF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E3002-9D5A-46FA-BF55-67C87AE4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E3571-C4BA-453B-A446-CBF60B87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Yeni menü update'i + yorumlarda servis hızı şikayeti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33255-B8CB-46CA-8646-696DAAC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Best 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4B2D2-B206-46D0-841B-302A783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76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Önce telefon, sonra owner'a kısa ROI email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76530-B5C5-47FE-B3DF-2A7E8D3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Angle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DA1DC-AEC0-4AEB-9597-D01AC0CC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38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Ordering/payment + menu analytics; QR menu değil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1391E-038E-450E-A696-4FE7DA21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Objection prep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1EDDD-9127-4EC9-B832-8235B84B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"Zaten QR menümüz var" objection'ına value reframing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728ED-93FD-4070-895D-279409B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Outcome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C7878-F7F5-4381-98DE-9DDC7F1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Reply / no reply / objection / demo sonucu sinyale bağlanır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E030A-86FD-4134-B3D2-DECE0462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Input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B68DD-7D18-458F-B2EA-ED5A5FA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48279-6FA8-41C8-8CDB-DA7F275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New opening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E50EC-960B-490C-BF04-EB934681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78B90-C981-41EA-9494-EEEE19B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Menu churn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24AFF-579D-4E31-90F3-83061BB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C8"/>
          </a:solidFill>
          <a:ln xmlns:a="http://schemas.openxmlformats.org/drawingml/2006/main" w="0">
            <a:solidFill>
              <a:srgbClr val="F5D8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9F95E-BF2A-47B5-A806-4A76895F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Review pain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0A697-835C-40FE-853F-F37C312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DCE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07E73-DF84-4AA4-9D49-D116D441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POS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DA5A1-0CDA-4FCD-8A6B-7089A83F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3"/>
          </a:solidFill>
          <a:ln xmlns:a="http://schemas.openxmlformats.org/drawingml/2006/main" w="0">
            <a:solidFill>
              <a:srgbClr val="DDF2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7CB2D-561E-463F-93A0-400327A9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Cluster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BAB44-8AF8-4128-B345-3EE2D02B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147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FFA5B-F654-4011-BFCD-87D5F16E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1FD9EC-C6B2-4EE5-9F24-37A5E782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62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Action 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A452E5-2F62-45F7-9A06-83D5991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4BF72B-53CF-422C-AB82-D9A0AB0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Priority score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401C0-BE57-4B1D-BDEF-093FC40C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E44A73-D20D-4B37-8884-E37BBEB8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Channel choice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2A353-44D1-4AB3-AA94-9E56395D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DCE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A5A9E-58EB-4457-BED8-A1638E7E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Message angle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B48E24-E266-4301-B360-C1EDCD3A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386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3"/>
          </a:solidFill>
          <a:ln xmlns:a="http://schemas.openxmlformats.org/drawingml/2006/main" w="0">
            <a:solidFill>
              <a:srgbClr val="DDF2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FF3A5E-3C00-49A3-B40A-02482472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6EF1B7-0327-43A4-ABAD-AF6BE592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577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FA"/>
          </a:solidFill>
          <a:ln xmlns:a="http://schemas.openxmlformats.org/drawingml/2006/main" w="0">
            <a:solidFill>
              <a:srgbClr val="E8E4F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0FE131-7203-4837-9343-7F3FFB1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339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Learning update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C5A88-F38F-4662-8631-18EBB07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0CAC5B-DAA0-4AFF-86B8-DE5A224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5D5867-ECAB-40E4-AA27-2C56873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577A0E-EB3E-4CA7-A6F5-92190DD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1E1AE0-B590-486A-8D20-E8102E46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Whitepaper sections: Account Intelligence Brief, signal library, outcome taxonomy</a:t>
            </a:r>
          </a:p>
        </p:txBody>
      </p:sp>
    </p:spTree>
    <p:extLst>
      <p:ext uri="{BB962C8B-B14F-4D97-AF65-F5344CB8AC3E}">
        <p14:creationId xmlns:p14="http://schemas.microsoft.com/office/powerpoint/2010/main" val="278554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FDFF0-124C-4ACB-826D-2825182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COMPETITIVE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077F5-6F6C-42A2-9F19-42EE2BA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Kalabalık alan data ve execution'da; açık alan karar + outcome öğrenmesinde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72256-ADFD-4CDB-ACF7-3C7E7C1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Openmart, Clay, HubSpot, Apollo/Smartlead benzeri araçlar önemli parçaları çözer. LeadAC'in wedge'i bu parçaları FineDine satış mantığına bağlamaktır.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8A15A-7837-4010-BA6F-85052485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C5659-28BC-4E39-99AB-AA8C7A7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883F4-FDEF-47D7-9984-B5822261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5AE1C-C8FB-4104-9C76-B757485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42D2C-3A77-4752-9179-E419C94C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8AFCC-469E-4297-BC61-ECACC7F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98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Enrichment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AA84D-B3A4-4472-9360-FD42571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140ED-4BDB-452D-B1E5-AF86AECB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98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1E85B-1908-4DC5-A80E-4E9D81B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027B6-055D-4F3C-A35E-CA4FA0E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98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28EB5-5E94-4D0C-A653-3B67F696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F721D-9739-4525-B8AD-4A659760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98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005C3-6F48-4B44-AC16-A13A47D2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4F492-EBF0-4BD4-9AE5-046D5C75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Restaurant discovery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3D332-EC65-4815-A9E5-470685E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08D92-A33A-4BF6-8E67-6C96B1A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9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EC935-6AC3-4647-8BBA-B796BA7C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5BDDD-3D50-4327-B256-D0AF8B1D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9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BE571-C77F-45AE-B872-E078F3C9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2D951-4E63-4860-A89B-369274CD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9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981DF-0F8E-4D41-8B99-306AE69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C977A-BFEF-475C-AA8F-2D9E628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9C4A5-7F4F-4D95-981D-A0638E5F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B0533-E580-41F0-A6D2-5172C4F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orchestrates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AF5FC-AAC8-4053-8F99-EEC86728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57862-941C-4B7A-B0B1-E9258F9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Account research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5D1DD-6060-40CA-BB7A-565581D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9F987F-56B8-4361-BDA9-7BC244C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670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7F69F-AFCD-4C05-B82C-20A278B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33209-BB00-4DF2-9AF4-72D8B3E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6689C5-C3F0-49A4-9217-C0A3558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33F7D-ADBF-480D-B6D8-FBAB5B39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946EE1-5B8F-4BFC-B9DF-D1C9F30E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D4727-8EE0-4C94-A102-2D0D4A9E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6D32D0-69E5-44D5-9170-F7F6252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1AD7C9-85C8-406C-A1C3-26F42A5A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ADA776-CBC8-4065-BE08-4023CF4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C4FB8C-9DF7-41B6-AF4A-7A3B54D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Message execution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BD28E2-9652-420D-9485-17354CC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311235-4838-4805-A7D4-16CE8575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242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974CC0-EE33-4379-ADD9-158C8DD5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C12330-DE61-4566-838B-C5B2512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242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27349D-23B3-4124-83E5-A5EF1AE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F8E716-5D58-4A38-9F67-57DE65F4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CFEA4D-3E4A-4427-8AFC-10C7975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31529E-B142-48C4-A403-9B724A9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242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F7326A-6745-4E7E-9ED7-34F814C1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722F0E-891D-4CED-BDF9-69C79B6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242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guides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D809CF-647D-4196-B5EF-7D556EE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A04328-1BC3-42B4-ACBF-4119C07C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Pipeline record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94CDF6-21F8-4C46-93A4-32ECEA49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B55C6B-0444-4CB2-8C1F-7A99347F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814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A6AD0B-368F-4745-8977-EF3D190E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DC0182-489D-4432-B7F0-4DFBC72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814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661640-10DF-4305-9781-4BDC5F39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96BCFF-B32F-4B45-9DAD-B5A81394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814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756241-EE06-4DA3-B961-899E825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AF77EB-A2C9-415C-91BA-A850FCA2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814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activity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71561F-1263-4B5B-90A7-CB0FDAF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842DAB-F623-4CFD-9C26-C07D558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14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reads/writes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0F6DAE-A3E8-4FB3-9F4C-C7F0C856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A7ADB2-80C4-4ACA-8DC6-8CA18AE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Why this account now?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47DFD2-CA21-44B4-8B02-889E35BB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0864B0-3B34-4AE6-AADD-FCAD923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38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D54631-95F0-4886-BE7E-FC143ACE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03CF68-3610-437C-8DF8-3FED075B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5512F-DA55-4C8E-A09E-670BAAB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2A84E7-D048-4DC1-9BB0-5DC673F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7886A9-3615-4FCB-B6CA-79D602F5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7C2298-BC45-46C9-859D-783CC2E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8C6A21-B015-4323-97B4-7A676BC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084236-6F96-4770-AD8F-67A912C0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386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EC1FEC-86CB-4A96-93F7-D6C018D7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686465-CF4A-4D75-B463-02B18B6F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Outcome learning loop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2BB625-323F-4952-A51B-A9B619E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DF0B589-0CAF-4ACE-86E1-A105503F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9FE676-ECD5-49FC-92B7-210EB59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083B10D-03E8-4FFB-AFAA-B1CB9607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5B81BE-E729-4D74-B72C-1C9FFA72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E5EEC6-0B61-492F-A962-9F4FCDA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ED2A54-CB9E-466C-9FDE-AFDD3B32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0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A568A7-3A88-46DA-9467-D8C98E1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0F48EC-389D-492F-AED5-2A530BD0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508A94-80D3-44D6-8471-8A9AA922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327F39-4145-4A13-BE87-455D151B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62550"/>
            <a:ext cx="312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047184-CEA3-40E3-A9DD-0E250B31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0542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White space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731FA31-4ED2-4F0F-8E7F-5F6DEC9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863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FineDine'a özgü sinyal, motion ve outcome mantığını yaşayan sisteme çevirmek.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33B997-F158-4152-98DF-4285B90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6B32D5-B016-440E-A2AE-450EFC67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08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31205F-DCBD-4E15-8D07-AFF3B251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category scans for Openmart, Clay, HubSpot/Apollo/Smartlead-like stack; LeadAC competitive stack map</a:t>
            </a:r>
          </a:p>
        </p:txBody>
      </p:sp>
    </p:spTree>
    <p:extLst>
      <p:ext uri="{BB962C8B-B14F-4D97-AF65-F5344CB8AC3E}">
        <p14:creationId xmlns:p14="http://schemas.microsoft.com/office/powerpoint/2010/main" val="1127723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5F70EB-E94B-499E-BE16-65283C74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VALUE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4FA78-88E0-4E7A-8348-B6A8E12B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LeadAC'in satış ekibine katkısı tek sayı değil, ölçülebilir etki aralığıdır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47F6C-127B-4E3E-8F5C-D03E882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Aşağıdaki aralıklar kaynak destekli benchmark ve pilot hipotezleridir; FineDine için gerçek değer baseline-control ölçümüyle doğrulanmalı.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E05C0-7392-4C86-AC03-C559CD8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0287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35DF4-775E-4406-96EC-E7C5C98E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955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Minimum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9C2AB-A092-4A5B-817D-9E785856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Maksimum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0E28A-AA09-4F62-88F4-A3E2500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Prospect/account research time reduction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6F229-1FC9-4E19-B8A1-EA08565A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FA5E7-7F95-470D-99DA-92A1A0B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71800"/>
            <a:ext cx="20993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331EA-4635-4F02-A449-50962EF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A22D9-4FB3-4A7A-8877-AD414DF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060" y="292417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B9A1E-8A2F-49A5-B444-ECC9AB3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670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8DE73-84E5-4511-9465-0D94521B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34%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70BA2-3B22-42DE-B7A5-B31255C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Email/opener/follow-up drafting time reduction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DD47E-2D56-42F6-958C-275AF152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1834B-3F0E-4791-8C0A-F70912A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23202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8E309-8CCB-469A-851F-EF1EAA1F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6232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2B228-481A-4570-8ABD-98772370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040" y="336232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7E235-31BD-4ECB-B358-6C40746A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051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14A77-C8A6-4F91-A5B9-D44A7222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051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36%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E22C2-40A7-49A2-98AA-F46200F2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Selling time increase, absolute 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D9FCF-4818-43A3-A1A3-E091FD1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09F97-CC3D-484F-8A8F-8775E20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48100"/>
            <a:ext cx="2209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8D26D-BF26-4805-BC35-8D9C3203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340" y="380047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E8473-6E4C-4EB7-BBA8-0874D60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80047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2B849-B73E-42A1-8036-6F5CA476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433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6pp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AD917-4775-4719-AB82-2315EE2B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433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DDCE8B-C57D-4431-BA81-F86256B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Sales process efficiency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E2639-AB5F-4BF5-9403-356218A7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634888-4A47-41A5-B2AA-674BD691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8625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50E75-EC01-48C6-AE5E-ECEF868F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3862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49A8A-F567-4172-86B2-5ACD78B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6ADE5A-08DB-484F-956A-AD321460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8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E53075-F072-45EA-B532-62D60EA4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814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957E58-1DF7-4ECA-B2C2-5320B13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Pipeline/sales uplift from better decisions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79A96-833B-45F9-A465-57AB920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01B037-C918-4F8D-A79B-4AFA60A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4724400"/>
            <a:ext cx="8839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EF821-B32B-4A9B-A4D8-19FF4598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467677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63029F-5DA0-4CBF-ADFE-CC357B8E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7677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D6BFBA-84CF-41D8-9301-A131466C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196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1FDFB0-D333-434F-81CA-D297F75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196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DAB0EF-8C07-42F2-8DC8-F25D140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Sales-stage velocity improvement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8F2F5E-22DB-4A5D-B009-4BEFC46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6255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AD10E8-52F3-43A4-82E9-5B1FBED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62550"/>
            <a:ext cx="386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4F41A6-6559-4D07-BC6C-980E5E0E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1492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4926A7-F4F8-4667-9C77-EB44A5D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14925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672FCA-B562-4C32-8FC7-6C7277E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577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50F47B-B644-4489-B83E-7BBE249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577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C5C52C-8E89-4534-AB4D-098940F1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239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0">
            <a:solidFill>
              <a:srgbClr val="F4E2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784930-A055-4873-9E84-12C315C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76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Okuma notu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393254-827D-41EB-AC2B-98E19A3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Bu deck'te en güvenli satış iddiası: research/drafting sürelerini azaltma + karar kalitesini ölçme.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3753A3-261A-4518-A023-6AB5599C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BD1407-50DE-4584-BB79-55FD2C1A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09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6E04D7-BA89-4AFD-B529-D7D8A7D6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LeadAC value-model.csv; Salesforce 2026; McKinsey sales automation; Gartner 2026; Mailshake 2025</a:t>
            </a:r>
          </a:p>
        </p:txBody>
      </p:sp>
    </p:spTree>
    <p:extLst>
      <p:ext uri="{BB962C8B-B14F-4D97-AF65-F5344CB8AC3E}">
        <p14:creationId xmlns:p14="http://schemas.microsoft.com/office/powerpoint/2010/main" val="1935182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26069-539D-4943-B456-6FB5E127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PILOT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AEA61-E601-4EDA-8CB2-0E19874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Bunu demo değil, stage-gated benefits project gibi yönetelim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ADBAB-6B55-4905-9C81-CAF5443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PRINCE2 mantığıyla her aşama sonunda devam/iterasyon/stop kararı verilir; amaç güzel otomasyon göstermek değil, FineDine workflow'unda ölçülebilir öğrenme yaratmak.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35A1A-B45D-489B-A92F-D30F40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80ED7-0CA5-4408-8289-25F4922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19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56F3-3C89-4C54-B360-46F33E1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EB1A2-03CC-4493-9039-B15234F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1343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39F88-E05A-4240-9A5D-16567B34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Mevcut lead source, research süresi, kanal mix'i, objection ve outcome taxonomy'sini çıkar.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61AFD-9A72-4713-971D-F15A51E4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0030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008AD-D94A-42A7-B290-FFBE7750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00300"/>
            <a:ext cx="419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31418-2AB0-41C7-A599-6B60BA5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B44DE-C505-4A93-B06F-4465337F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71750"/>
            <a:ext cx="1343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0C091-11CB-4B9F-9AAF-AA4DBAA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95600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 iyi rep karar mantığını ve kötü lead filtrelerini gerçek örneklerle map 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7799C-06C9-441A-B1C9-74CA675F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17066-ED79-4B1F-B8B4-A5B871C8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419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F5BC5-C62B-480D-A1BE-2011B9A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57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C0181-A338-446E-AB1D-8451FE57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343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50CEC-8A66-4E35-A53A-C984557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95600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FineDine account brief + signal library + motion recommendation modelini kur.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C18B7-5E86-4F65-A6E2-819A68F6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0030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77AC5-4E97-4855-A08C-A943013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00300"/>
            <a:ext cx="419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ADE3A-1214-4045-9CF3-238B3F7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28075-0053-413E-8237-F425E42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71750"/>
            <a:ext cx="1343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Controlled 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2197E-D1F5-436C-BFDC-78FD280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95600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Matched control veya önce/sonra ölçümle sınırlı segmentte test 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DDA5C-9A44-414A-B651-D009A99D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8714B-476A-4A28-B0B8-2CA2A5E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419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E62C4-4765-43A6-A8A8-74B29AE6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857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EB5E7-83CB-4D17-9282-37B19E68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1343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Scale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E1E18-6C7A-4746-8A15-7FA80917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95600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Benefits review: ne tuttu, ne tutmadı, hangi sinyal/motion kalıcı oldu?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D31F7-97ED-4660-9CDB-BCA78F5D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38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F4D19-7F80-4D4E-9287-697CBE4C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84EA19-EE62-4749-8F92-65F1C37E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38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A9B04E-5BF1-47B9-81D1-345D2CF3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38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EB037-7AEB-4813-B12E-B1C686C6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84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B3451-EE8B-4F79-A862-764F83C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Gate criteria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9D9BD-8866-4165-BE7C-EC115F30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57725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1) Baseline var mı?  2) Sinyal hipotezleri gerçek hesaplarda test edilebilir mi?  3) Rep workflow'una sürtünmesiz giriyor mu?  4) Outcome learning tutuluyor mu?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FF99A7-1CE7-4DF3-9BEE-D5298829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FFB2C-3D67-4130-B25E-5E2B9987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 scope dışı: CRM'i değiştirmek, tüm outbound otomasyonunu baştan kurmak, compliance riski olan veri kullanımını varsaymak.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D1C5FA-D0F3-41F2-9CDC-586CA42A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49152-4772-483A-BF90-5AF1844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16FD05-4681-43A9-9BD1-EE197B6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Framework: PRINCE2-inspired stage gates + LeadAC benefits realization plan</a:t>
            </a:r>
          </a:p>
        </p:txBody>
      </p:sp>
    </p:spTree>
    <p:extLst>
      <p:ext uri="{BB962C8B-B14F-4D97-AF65-F5344CB8AC3E}">
        <p14:creationId xmlns:p14="http://schemas.microsoft.com/office/powerpoint/2010/main" val="5558735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246AEF-7223-4224-A164-E2903D6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MEASUREMENT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B5A41-8799-41D5-A38C-DA1AF9D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North Star: doğru hesaba doğru motion ile gitme oranı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91072-D2E6-4E6A-969E-6C5B2811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FineDine pilotu lead volume ile değil; karar kalitesi, workflow hızı, engagement outcome'u ve öğrenme yakalama oranıyla ölçülmeli.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CCE4C-BA09-42F9-9EAD-95FB468D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429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87CF-E6D5-40AB-AD18-B9F25F2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North Star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72B7D-ECC8-4F81-A912-80D2B12C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Signal-backed qualified account decision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4161D-679A-413E-A34F-CA925DB8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Tanım: SDR'ın çalıştığı hesabın net sinyal gerekçesi, önerilen motion'ı ve ölçülebilir outcome kaydı var mı?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705B5-14F7-48BF-AC3E-9800A7B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ECE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C5955-2950-4117-8ED8-471492A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Kritik: Bu metrik meeting rate'i tek başına optimize etmez; kaliteli öğrenme döngüsünü optimize eder.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84849-1242-49F1-80EF-C733DFF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C6D21-9CB8-48CF-89CE-A940E8F0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BE0A5-CA62-4A19-AAFB-4305CDD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6E67B-E5AF-44AF-A3A2-9C937E8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A535D-71E2-4090-9F39-271157FD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Input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30308-B718-430E-AACF-E9CFE4CA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fit score, signal freshness, source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0BBD7-E72C-4C7D-8574-527BE2C2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C23D6-2958-43B9-BE8B-1BC1D869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147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F677D-2DD4-4678-84D1-5C9CCBE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147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9B436-2E93-4828-A019-0E6F333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29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Workflow speed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3D900-27E8-4D96-A201-04C2B09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 min/account, drafting min/message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585AB-9EC3-49C2-83B3-7734D4B3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7928E-CD5B-40E4-B33B-4E564A7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A69E1-3802-46A7-AC7E-9245D1D0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63943-7D3A-41CE-87E4-0B391FD3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19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C9132-8CCB-4DD4-BC54-3E2D6ED5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48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positive reply, meeting, demo, objection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E0265-F840-4FDE-9372-C001262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D2B31-023D-4780-B099-0224A32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194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E6508-EDAA-407F-B535-B9F8AC0E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194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2C5CA-244B-4C38-BDBA-DA8D980A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199B0-BC92-4EC2-91B4-7E961213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demo-to-next step, stage aging, closed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2D54EE-4DA7-4418-94D2-34990F02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913217-4209-47C5-B1B4-84389CD3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C58F3-1BEB-45F3-8792-D0589FA7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357B0-8C1B-427F-990C-CED40A30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500E3C-781A-47B3-ABD0-04E9DE8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signal-&gt;outcome update, play recommendation 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83F829-58F9-4ED7-AA89-6247D19E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2BDFC5-877A-46E6-B471-451684B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C72E6C-D917-4D80-B210-D5A95518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scorecard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556AE7-6EB7-4BF7-ABE9-8F1069E7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626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03A050-EA18-4BB5-BB45-DBCFF39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483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57F04A-EC7D-4851-B9FA-7700524A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626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209D81-492E-4846-94D8-878FDE78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483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LeadAC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0A2D82-4D3E-4041-BB73-FCFEEC57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626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B158E7-94F2-4A74-9D27-65EDCC1A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483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6E807D-AB6F-4AE7-B3CF-78FC2E59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626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738E38-11B7-4E5A-887A-FE3112D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48325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Ölçüm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F4D9C0-BC22-4D20-BE07-5C3979CD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2000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E22573-2A75-436D-AF23-57F62FB6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Research 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521F43-EF41-4709-9180-7068F5B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67400"/>
            <a:ext cx="152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475522-99B8-4D90-9BEE-9FD4C78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53125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min/account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8384F0-6749-4080-826D-238E81FD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67400"/>
            <a:ext cx="171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95424C-C8BF-4445-BF56-701294C1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531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-15% ila -34%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7EFA71-6B70-4207-8375-42E0D18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67400"/>
            <a:ext cx="2190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755470-8D6A-4C80-A4C4-0B253229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9531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continue if quality holds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2D7481-E0A4-4D53-B49B-B817DC75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67400"/>
            <a:ext cx="2857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A0E3A4-6D53-4DFC-A448-E4FF569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53125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before/after + manager approval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630BA6-1AC4-4B94-9BD3-5CF52625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86475"/>
            <a:ext cx="2000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2D4CA4-C513-451B-86F1-F0D28AFC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Decision capture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2DDC66-D405-4480-8B8B-F5CAA691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86475"/>
            <a:ext cx="152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34D69B-6781-415B-93D2-7DD5B64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722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% accounts with rationale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1E0988-7FC7-4079-89CD-7AE231EB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86475"/>
            <a:ext cx="171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A8842A-09FD-469D-8AA5-A35C5991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72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+ pilot target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FFD292-4AA7-455F-A8EA-C095769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86475"/>
            <a:ext cx="2190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2CB567-A352-4296-8CBC-5C1A830C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722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expand if used by reps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6719CD-2B57-44BD-BE72-93AA92A6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086475"/>
            <a:ext cx="2857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04F96A-E6CF-4725-B4EB-741B2CC4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722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brief completion + outcome linked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C4513D-BE06-4B24-97C0-3DB570A5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08BB0B-E291-45DF-98F3-F0516524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11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F4C9FE-F17E-48E0-973E-C4414A1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Whitepaper sections: Measurement framework, pilot scorecard, benefits realization</a:t>
            </a:r>
          </a:p>
        </p:txBody>
      </p:sp>
    </p:spTree>
    <p:extLst>
      <p:ext uri="{BB962C8B-B14F-4D97-AF65-F5344CB8AC3E}">
        <p14:creationId xmlns:p14="http://schemas.microsoft.com/office/powerpoint/2010/main" val="8231479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DBAF8-8698-4CE1-B2D6-7608E6F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RISK &amp; COMPLIANCE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B5268-4C82-40E9-BC21-510AB5B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Pilot değer üretirken veri ve outreach sınırlarını baştan netleştirmeli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2F900-FB93-4A00-BEB5-E3A05163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LeadAC'in doğru konumu: compliance sınırları içinde karar desteği. Veri hakkı, consent, opt-out ve platform terms konuları ürün kararına gömülmeli.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5869A-344D-4CF6-A36A-D1AAF26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E5C03-F4D0-4B88-A96C-A48FC3F2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A3CC4-F7BD-41CF-BC11-9937D77B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875DD-6775-4501-B424-55AEC0C2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669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A3600-2EAF-455E-9FBA-D9E3FB0A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BE48F-B36A-4BC6-91A7-2ABBF3FE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A5DC2-F0E2-437E-B34A-6F8895F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E52C9-1419-49A3-8ACC-EF27E4C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Meeting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828D4-A74F-49BC-9EF9-A13A019B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ACB71-7915-4986-B6F3-AC897374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Email compliance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F1D2A-BFD6-4DE2-8EFC-D387CE0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EC6D8-5492-40AA-A2BE-ADB54339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289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212EC-AB47-425A-B7B9-7AB228A1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5CF2A-1721-4807-A1CF-2BD48207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2892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CAN-SPAM: clear identity, truthful subject, physical address, unsubscribe handling.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A3036-FC98-4AB0-BC5A-39B8413A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D5F0F-2852-471E-AB2E-0CA60E1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2892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LeadAC mesajı önerir; compliance policy'yi uygulatır.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61600-6F5C-4C64-8908-B8140B00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4B5D9-0481-470C-BE15-86D48E5D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Phone/SMS consent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CB4BD-53B0-49BB-832A-10A6F49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C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25441-B41A-4C37-B95C-887C6CD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337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6BEC7-7142-4868-845A-CD32170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480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1AF77-AFD1-49D2-9F4D-775B22C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37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TCPA risk: automated calls/texts and revocation/opt-out rules must be respected.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73DD5-AFCC-4F51-88E7-162EAE3B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7DC78-3C1A-4B48-9AF7-8C8F4BF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337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Phone/field motion ayrı policy ile tasarlanmalı.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841D9-9170-48BC-82A2-7A48DA84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F3B38-9153-4C43-80D8-F154B8E6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Google Places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793D0-650E-4DD2-A6D7-B0332C3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5DDEC-7796-466C-B6FF-27D9BD89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386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1B9DD0-3EB6-4707-BE11-153C7E49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B23D3-39AA-4FFA-8C0F-E9690C8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Display, storage, refresh and attribution constraints checked before persistence.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1C92BE-ACA8-448F-AAA8-C7E04E9E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86FF9-EEA2-46B5-81E8-D046D811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3862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Data source rights pilot design input'udur.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0B0755-5863-4749-88AD-3B7B058E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E78D76-211A-4428-B657-2FFFB52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AI overclaim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2E5A97-8A04-465F-9F3A-584FBF8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885DFB-0B58-462E-BF7A-D5C69C68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434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4F8249-1136-4B7D-A850-45EF817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210A86-DB97-4BA5-86BB-CCA2FBD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Benchmark impact ranges are hypotheses until FineDine baseline-control proves them.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B61F8E-31F5-4382-800A-91AE6B8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346674-C74E-4F00-93D0-E4ED85C6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434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Tek sayı değil, ölçülebilir aralık satıyoruz.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0117C9-FC19-411F-84EF-1737E21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3EB514-CEB3-4376-A001-09EB267E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Pilot prensibi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A45020-BB40-4965-B3D4-197A224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53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Karar katmanı kurulur; outreach kanalları, consent ve veri kullanımı FineDine'ın mevcut policy ve kaynak sözleşmelerine göre sınırlandırılır.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6C70F7-D519-40F9-9F4D-7ACAE5FD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3D3C5D-2EED-4A1A-A4EF-A6320CC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12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2CB394-B342-40B0-9EB3-94842A27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FTC CAN-SPAM Guide; FCC TCPA guidance/order; Google Places Policies and Maps Platform Terms</a:t>
            </a:r>
          </a:p>
        </p:txBody>
      </p:sp>
    </p:spTree>
    <p:extLst>
      <p:ext uri="{BB962C8B-B14F-4D97-AF65-F5344CB8AC3E}">
        <p14:creationId xmlns:p14="http://schemas.microsoft.com/office/powerpoint/2010/main" val="112264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35288-3DA3-4516-BB43-8FB35648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MEETING TRANSCRIPT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6EE27-0426-42E7-BEF6-B17D9826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FineDine görüşmesinde doğal Türkçe akış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FF22E-1005-4B48-BB59-171C328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Amaç ürün satmak değil; outbound workflow'u ve signal-learning hipotezini birlikte doğrulamak.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DC785-70C8-4279-A152-E6B657E5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743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A2ED5-49AB-48B1-B9E7-ED250FC4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97248-DEEC-490F-82FA-210A1E90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Açılış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0D2A0-C967-414D-9817-DE6AAFFD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Biz LeadAC'i klasik bir CRM, lead list tool'u ya da AI SDR olarak konumlandırmıyoruz. Gördüğümüz problem daha temel: outbound ekiplerinde çok değerli bir öğrenme oluşuyor ama bu öğrenme sistemde yaşamıyor.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9595C-9560-4349-85DE-1F35A616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4743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1B218-6B56-4020-89F2-D32C966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4"/>
          </a:solidFill>
          <a:ln xmlns:a="http://schemas.openxmlformats.org/drawingml/2006/main" w="0">
            <a:solidFill>
              <a:srgbClr val="D89B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8D87B-2A9B-48C3-A32F-79909F2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9B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B24"/>
                </a:solidFill>
                <a:latin typeface="Aptos"/>
                <a:ea typeface="Aptos"/>
                <a:cs typeface="Aptos"/>
              </a:rPr>
              <a:t>FineDine 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E641E-0E80-4B3A-93A7-2F65C34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FineDine sadece QR menü gibi anlatıldığında gerçek değeri eksik kalıyor. Asıl değer digital menu, ordering/payment, AI upsell, analytics ve guest data katmanını restoranın operasyonuna bağlamak.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51F0C-5CAA-4A99-8F38-2D3B0F01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743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41250-BFFC-449F-8060-1D7B3176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5F452-3507-42B3-9EE8-F6DA6BBF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LeadAC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05BD3-B45F-4DD1-8878-F49C0AC8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Bizim çözmek istediğimiz şey şu karar mantığını sistemleştirmek: bu hesaba neden şimdi gidilmeli, hangi motion ile gidilmeli ve sonuçtan ne öğrenip sonraki aksiyonu nasıl iyileştirmeliyiz?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866B0-474F-4382-A944-469CE782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4743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0F770-0DDC-425B-B149-26576395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A0AB4-34D3-4D82-BFBD-007B70D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0AC87-6F32-4A60-880D-869FF05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Bugün en değerli şey sizin mevcut outbound workflow'unuzu anlamak: lead'ler nereden geliyor, iyi/kötü lead nasıl ayrılıyor, hangi sinyaller, kanallar ve objection'lar gerçekten karar değiştiriyor?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88C6A-438E-4BAB-9DE9-D7D7D26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97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1018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BACBA-4CDC-456F-8612-BF5D1B06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Net next step: bir sonraki görüşmede genel demo değil, FineDine workflow'u üstünden kurulmuş somut account decision model'i gösterelim.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9103D-5398-4898-9563-DDD15BB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E8FC2-5F00-4D95-B832-9E21EE54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B638D-F849-474E-B2B8-4F7D0CC2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E0393-6777-4D41-8D8B-9EF65BC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Derived from Turkish meeting talk-track + updated research-backed positioning</a:t>
            </a:r>
          </a:p>
        </p:txBody>
      </p:sp>
    </p:spTree>
    <p:extLst>
      <p:ext uri="{BB962C8B-B14F-4D97-AF65-F5344CB8AC3E}">
        <p14:creationId xmlns:p14="http://schemas.microsoft.com/office/powerpoint/2010/main" val="3282207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257C6-93B7-4699-A0E5-38573390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EVIDENCE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9D1D4-2615-4460-BDBB-F34BBC69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Neyi güvenle söyleyebiliriz, neyi pilotta doğrulamalıyız?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698E3-F501-4EFC-AB22-C36C996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 slide toplantı sırasında açılmak zorunda değil; itiraz geldiğinde kaynak ve sınırları hızlı göstermek için.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73627-0ECF-4DB8-ABA0-63C995C2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40D48-00A2-4C66-A7BB-B0492862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Kategori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DFA59-C235-4039-A307-BE79BA16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3733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2D3D2-91FB-4BFD-BCE0-58F0B27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Güvenle söylenebilir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7F266-2896-41DC-AAA5-45CEE5D6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3733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0195F-D84C-4900-BC61-ABC68BC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479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hipotezi olarak söylenmeli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31D73-849C-4911-9093-FDAE828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EE5FA-EA40-48A5-BD5B-CA06E97C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92FC3-1E29-4E89-AC99-3F967187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6225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DE564-B479-4AFD-A80D-FC7DBE1C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Restoran pazarı büyük ve operator pressure yüksek.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9EB25-96CF-4628-868A-5BE7D404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6225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DF3A5-85C4-44C8-ACA7-4927A9CF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Hangi FineDine segmentinde sinyal en güçlü?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0B5B6-32C8-4C4A-A930-F515218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EB68A-7485-41EC-B348-008CED81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35EC8-3641-45B6-A323-E439EB80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C45FE-F778-421F-832A-27F0607E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3852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FineDine QR menu'den geniş değer alanına sahip.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1B6B5-C531-437C-8933-DE8BF3DB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E0BE3-64C9-4F9F-9536-E88E63D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3852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Hangi module angle meeting dönüşümünü artırır?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1F364-D8CF-45C4-9D8A-850E28C0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5E1F61-0940-42CA-9D1A-51E57F9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Sales productivity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4A25D-1B0E-4322-B0A5-9F16D167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335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F5253-8B83-4AE7-BAFA-B57A849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290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Research/drafting/admin azaltma için benchmark desteği var.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C8463-2476-4C54-A391-892664A8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F52C7-3FEF-4CB5-9B8B-26A0EED2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290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FineDine SDR workflow'unda gerçek dakika ve kalite etkisi.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0D0DF-FB08-447C-9D24-65B21C8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F98BE-1F74-4E74-8A5A-1615752A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GTM motion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F0490-A749-40BA-B866-DC43417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3390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EA3EA-D76B-40D9-B2A3-119D8DF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1962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Local SMB satışta territory, field/phone/referral dengesi önemli.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7931C-15F9-4002-8AFC-E3C7F0EB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3390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B28D73-90CA-4497-87CB-8C61BA2B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962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Hangi kanal hangi sinyal için daha iyi çalışır?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E8707F-0164-4385-853B-3863350C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B723B3-D2A6-4024-8B66-BF6A0A9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D7C547-7D59-4EAB-9E4A-BDD1669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445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F8E63-538A-420A-95AD-85284750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101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Email/phone/data hakları pilot design input'u olmalı.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BFB2A0-B251-462D-BD32-7007F1FA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24450"/>
            <a:ext cx="373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B8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C3F28C-C131-4B3A-9A80-0800A2A7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01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Kaynak bazlı saklama/gösterim kuralları nasıl uygulanacak?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9DA5BA-FED3-4F0E-999A-22CA718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984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2FBBF0-D599-49E4-9F32-E8A7917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02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7A"/>
                </a:solidFill>
                <a:latin typeface="Aptos"/>
                <a:ea typeface="Aptos"/>
                <a:cs typeface="Aptos"/>
              </a:rPr>
              <a:t>Source base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7808BA-5290-4CAB-8F37-B370055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828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NRA 2026/2024, FineDine site, Toast 10-K, Salesforce 2026, McKinsey sales automation/AI, Gartner sales enablement, FTC/FCC, Google Places/Maps terms, category scans.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7AD1CB-8915-416C-BFCF-4E4BF153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8"/>
          </a:solidFill>
          <a:ln xmlns:a="http://schemas.openxmlformats.org/drawingml/2006/main" w="0">
            <a:solidFill>
              <a:srgbClr val="DE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00DB3F-DF62-4061-9C51-AE2C004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LeadAC x FineDine | 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F88CAD-2692-43ED-B551-AE6EC92D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3890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Full database: research/leadac-finedine-market-research-db-2026-06-06</a:t>
            </a:r>
          </a:p>
        </p:txBody>
      </p:sp>
    </p:spTree>
    <p:extLst>
      <p:ext uri="{BB962C8B-B14F-4D97-AF65-F5344CB8AC3E}">
        <p14:creationId xmlns:p14="http://schemas.microsoft.com/office/powerpoint/2010/main" val="444660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2026-06-06T21:12:09.3650000Z</dcterms:created>
  <dcterms:modified xsi:type="dcterms:W3CDTF">2026-06-06T21:12:09.3650000Z</dcterms:modified>
</coreProperties>
</file>