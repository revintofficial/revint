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f299f3d6641a8" /><Relationship Type="http://schemas.openxmlformats.org/officeDocument/2006/relationships/extended-properties" Target="/docProps/app.xml" Id="R6ffa1879ce3e48c2" /><Relationship Type="http://schemas.openxmlformats.org/officeDocument/2006/relationships/officeDocument" Target="/ppt/presentation.xml" Id="Rb4f712898bba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8bc817ab0c4658"/>
  </p:sldMasterIdLst>
  <p:notesMasterIdLst>
    <p:notesMasterId xmlns:r="http://schemas.openxmlformats.org/officeDocument/2006/relationships" r:id="R4e3cd5af9e6d45b9"/>
  </p:notesMasterIdLst>
  <p:sldIdLst>
    <p:sldId xmlns:r="http://schemas.openxmlformats.org/officeDocument/2006/relationships" id="256" r:id="R47aa033607a14a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bc817ab0c4658" /><Relationship Type="http://schemas.openxmlformats.org/officeDocument/2006/relationships/theme" Target="/ppt/theme/theme1.xml" Id="R34c4f19afc8d436e" /><Relationship Type="http://schemas.openxmlformats.org/officeDocument/2006/relationships/notesMaster" Target="/ppt/notesMasters/notesMaster1.xml" Id="R4e3cd5af9e6d45b9" /><Relationship Type="http://schemas.openxmlformats.org/officeDocument/2006/relationships/presProps" Target="/ppt/presProps.xml" Id="Rb32968c5691f4fb8" /><Relationship Type="http://schemas.openxmlformats.org/officeDocument/2006/relationships/viewProps" Target="/ppt/viewProps.xml" Id="R514deebf1852454b" /><Relationship Type="http://schemas.openxmlformats.org/officeDocument/2006/relationships/tableStyles" Target="/ppt/tableStyles.xml" Id="Rf965bb0cb1f041ce" /><Relationship Type="http://schemas.openxmlformats.org/officeDocument/2006/relationships/slide" Target="/ppt/slides/slide1.xml" Id="R47aa033607a14a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c18c328215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17d80d65964a6e" /><Relationship Type="http://schemas.openxmlformats.org/officeDocument/2006/relationships/notesMaster" Target="/ppt/notesMasters/notesMaster1.xml" Id="Rf8bee059d1c246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7321fc49f47b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139954e04f4ebd" /><Relationship Type="http://schemas.openxmlformats.org/officeDocument/2006/relationships/slideLayout" Target="/ppt/slideLayouts/slideLayout2.xml" Id="Rce462c9c7fbe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462c9c7fbe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e255d5c0c4355" /><Relationship Type="http://schemas.openxmlformats.org/officeDocument/2006/relationships/notesSlide" Target="/ppt/notesSlides/notesSlide1.xml" Id="Rae497d52894f48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D89B1-94FF-45BF-9BFD-AED24122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340670-1A3A-4F96-9192-A6B40C5A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52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F33"/>
          </a:solidFill>
          <a:ln xmlns:a="http://schemas.openxmlformats.org/drawingml/2006/main" w="9525">
            <a:solidFill>
              <a:srgbClr val="536276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D25C4A-6721-429D-8620-7D6AF2FF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429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C66A"/>
                </a:solidFill>
                <a:latin typeface="Aptos"/>
                <a:ea typeface="Aptos"/>
                <a:cs typeface="Aptos"/>
              </a:rPr>
              <a:t>LEADAC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80770-1A90-4C9C-9F2A-5EAC02CB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66750"/>
            <a:ext cx="7477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EF4FF"/>
                </a:solidFill>
                <a:latin typeface="Aptos Display"/>
                <a:ea typeface="Aptos Display"/>
                <a:cs typeface="Aptos Display"/>
              </a:rPr>
              <a:t>Enterprise has a closed-loop revenue intelligence layer. Local GTM does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4EB81-4DCD-448F-AE5A-2E4E777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42950"/>
            <a:ext cx="3476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LeadAC's role: own the missing top layer for teams selling into local businesses.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4E7F-7FB3-42F3-AC1B-939FE282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38275"/>
            <a:ext cx="3657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D"/>
          </a:solidFill>
          <a:ln xmlns:a="http://schemas.openxmlformats.org/drawingml/2006/main" w="10478">
            <a:solidFill>
              <a:srgbClr val="22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DD2C9-08BD-4892-9F3D-10C23E52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38275"/>
            <a:ext cx="3657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D"/>
          </a:solidFill>
          <a:ln xmlns:a="http://schemas.openxmlformats.org/drawingml/2006/main" w="10478">
            <a:solidFill>
              <a:srgbClr val="2A34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3A7BA-B303-43F1-9D37-66FE2303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38275"/>
            <a:ext cx="3657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D"/>
          </a:solidFill>
          <a:ln xmlns:a="http://schemas.openxmlformats.org/drawingml/2006/main" w="15240">
            <a:solidFill>
              <a:srgbClr val="21CF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C1209-027A-4078-A717-A56BA3E7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5240">
            <a:solidFill>
              <a:srgbClr val="7C8C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3EA5D-C83A-485B-B17A-17FB0D7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62638-07C7-486B-9268-F152A4B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Closed-loop intelligence exists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2890B-4F08-41A9-B5FC-27950A9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5240">
            <a:solidFill>
              <a:srgbClr val="9D7C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EB92A-A835-4866-A45C-EBC17D62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335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SMB / mid-market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F5A40-C2AA-4C23-B767-B2BAB669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Signals and workflow, still fragmented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D484D-2D13-4F8A-8DC7-1FDE651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383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5240">
            <a:solidFill>
              <a:srgbClr val="21CF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8A1C4-EF5A-4B2B-9374-CC59F4C3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Local-business GTM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23FF5-9140-4C27-ACE4-584C1A6D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No operating brain yet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CCBE4-C78A-497F-A980-DA394890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E5B46-586F-4BC5-AEC4-D4E0AB9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AD7D1-ABAC-4328-8FA5-76487960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Closed-loop revenue intelligence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19926-A36F-432A-9318-5B948476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Learns from revenue outcomes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10B91-179E-46D3-9DF1-D7432211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HockeyStack | Gong / Clari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34AD5-0427-4B7A-B049-35C91B84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8855A-9F3D-4E7B-B000-A10E88A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7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418B5-26E2-4345-90DA-E4CA4807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860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Fragmented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28FC0-1598-4592-BF5D-C15ECEAD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Signals exist, but local ops context is thin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73FA6-D4AA-43FC-9EB3-4787764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Common Room | Pocus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B6BAC-4AF0-4B4F-A2DD-2243415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31"/>
          </a:solidFill>
          <a:ln xmlns:a="http://schemas.openxmlformats.org/drawingml/2006/main" w="22860">
            <a:solidFill>
              <a:srgbClr val="F8C6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145078-7749-4F59-B002-FA960688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4C57CD-8BC3-49B2-B8CD-513AF82D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860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C6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C66A"/>
                </a:solidFill>
                <a:latin typeface="Aptos"/>
                <a:ea typeface="Aptos"/>
                <a:cs typeface="Aptos"/>
              </a:rPr>
              <a:t>Missing local operating brain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C624BB-8A69-432E-87FB-04F879C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1462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Actions, outcomes, vertical playbooks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C2D60-852F-45CA-A15C-CAD50194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24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LeadAC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64E6C-1AEA-4B22-9BF6-907006FD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29645D-2BCB-42AD-9FF4-9629A8C2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7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D6DAA2-9774-4911-A8B0-724F91AF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Buyer / signal intelligence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0F7312-D250-44D5-B151-1295FB51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Intent, product and account signals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0BF365-153E-4340-A3E5-4DB702FE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Common Room | Pocus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303DD-A036-4E48-A844-06D6586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5DCEF0-FEEC-4939-9B6E-8BC91FAA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D288FB-70EA-4DEA-B578-6C0EC3E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GTM workflow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62BD70-4A5F-4012-A162-CB0BCC62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99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Enrichment and play execution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CF791D-AFE4-488B-A15F-2EA6DAB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95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Clay | Apollo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F5D9CE-72A3-4619-8A16-71E6954A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28FB1B-D54E-439A-8570-345804E9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DA1D9A-A55D-4D4A-AF61-8DB82CB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81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SMB account intelligence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EB59A7-ADD9-4A6D-BAE3-DFFD79E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99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Local TAM and SMB attributes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84C618-BB94-4CC6-ACDD-1F27EBD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95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Orbital | Openmart | Resquared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EF4A4D-A82E-4433-9239-CF52A511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EA7A30-EAA3-4881-8846-2E8BE884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AFACB5-5790-41FA-8106-24B0E752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Data + enrichment workflow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3E81C4-F5FF-4E6C-A64A-53D9CAC6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Fills fields and routes to CRM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3B197F-9E8E-4758-B63D-C352AF34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Clay | Apollo | ZoomInfo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764D7F-7F12-4071-AF5E-0456A23C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57E9E1-C493-4034-BEAB-C1BD236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645923-DCF0-4ADE-87CF-522563BA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CRM + sender stack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D2CFC3-B0DD-49FC-8908-429BA184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481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Stores pipeline and sends campaigns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D4768C-74B8-46FD-9E1A-E8ECC43C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HubSpot | Smartlead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F3C8A8-65BF-4D06-BB0A-296E5F4A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16FE18-F753-4A65-A864-6DA5F341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9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FED3F0-FD5B-4E38-B728-CD0A732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195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Local discovery + enrichment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72AA6A-CB21-4F66-922B-42E752A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481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Restaurants, reviews, owners, sites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26F2A9-D429-4AE4-8876-44E56B46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577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Google Maps | Apify | Clay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C79609-983A-4920-ADF7-E78A4ADA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96D2B2-142E-48D8-BECB-2413784D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D4BAD2-B214-48E6-B754-A8688FA8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Systems of record and execution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343830-F0B9-492A-82E3-0C6D130F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Pipeline, outreach and activity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0C85DC-C2D5-44D9-9A9E-352AD38E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Salesforce | HubSpot | Outreach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C5E7A4-9DE5-4FCA-B112-CE1B27EA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38C465-B3F2-4765-9359-C7177BA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0A761B-6C3C-48F7-858A-B19285F4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577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Generic data layer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347617-CE31-46D4-AE52-BB28DD04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Desk-worker B2B coverage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B289CC-4BA1-4672-9A36-1819A3DB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959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Apollo | ZoomInfo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5BB62F-3898-4D43-85CD-12DE389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9CBB59-08B2-4F0F-8D06-0DA6F14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D84C13-C3E9-4379-89C5-422A2482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577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CRM + sender infrastructure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59404D-E15F-4521-99B3-7AF4FEC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86375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Holds pipeline, executes outreach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170B2A-1C61-4FFB-AF20-58CED763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959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HubSpot | Smartlead | Instantly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B16430-CC97-4391-9CBC-433B48A1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15050"/>
            <a:ext cx="1154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0478">
            <a:solidFill>
              <a:srgbClr val="F8C66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C4C1F07-CBA9-4CBF-80F9-9D7B45A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Strategic placement: LeadAC does not replace local data sources. It becomes the judgment, next-action and learning layer above the local-business GTM stack.</a:t>
            </a:r>
          </a:p>
        </p:txBody>
      </p:sp>
    </p:spTree>
    <p:extLst>
      <p:ext uri="{BB962C8B-B14F-4D97-AF65-F5344CB8AC3E}">
        <p14:creationId xmlns:p14="http://schemas.microsoft.com/office/powerpoint/2010/main" val="1192951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2026-05-29T02:02:14.1890000Z</dcterms:created>
  <dcterms:modified xsi:type="dcterms:W3CDTF">2026-05-29T02:02:14.1890000Z</dcterms:modified>
</coreProperties>
</file>